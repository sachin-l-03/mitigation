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Mitigating Prompt Sensitivity &amp; False Consensus in Large Language Models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Evidence-Grounded Factual Verification with Deterministic Symbolic Computation and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Research Repository: prompt-sensitivity-hybrid | Branch: creme-hybrid-framework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Target Architecture: Qwen2.5-7B-Instruct (Quantized 4-bit NF4) on NVIDIA GeForce RTX 4090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Evaluated Benchmark: 600 Independent Semantic Question Clusters (2,400 Prompt Variants)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Core Research Goal: Reduce paraphrase answer sensitivity while preserving strict factual correctness</a:t>
            </a:r>
          </a:p>
        </p:txBody>
      </p:sp>
      <p:pic>
        <p:nvPicPr>
          <p:cNvPr id="5" name="Picture 4" descr="research_summary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1538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Paraphrase Sensitivity Matters in Safety-Critical Deployments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When Equivalent Questions Yield Contradictory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Paraphrase Instability: Minor lexical or syntactic changes frequently flip model answers from True to False.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The Shared Hallucination Dilemma: Language models trained on similar data often agree unanimously on errors.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Failure of Pure Consistency: Majority voting and bounded medoids are powerless when all candidate answers are wrong.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Phase 4 Forensic Revelation: 17.50% of clusters in earlier benchmarks exhibited unanimous false consensus.</a:t>
            </a:r>
          </a:p>
        </p:txBody>
      </p:sp>
      <p:pic>
        <p:nvPicPr>
          <p:cNvPr id="5" name="Picture 4" descr="fig9_false_consensus_cas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3676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Evolution of the Research: Methodological Shifts &amp; Forensic Lessons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From Latent Parameter Editing to Independent Multi-Path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Phases 1 &amp; 2: LoRA parameter editing failed to generalize across domains (-0.06 pp vs. base, p=0.52).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Phase 3: Adaptive token budgets reduced compute but did not prevent parametric errors.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Phase 4 Audit: Exposed the two-sided non-inferiority fallacy and showed zero-contradictions was a structural artifact.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Phase 6 Breakthrough: Replaced internal self-checking with external deterministic tools and verified retrieval.</a:t>
            </a:r>
          </a:p>
        </p:txBody>
      </p:sp>
      <p:pic>
        <p:nvPicPr>
          <p:cNvPr id="5" name="Picture 4" descr="fig1_research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27707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Phase 6 Confirmatory Results: Factual Accuracy Superiority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Rigorous Evaluation on the Untouched Test Split (N = 450 Clusters, 1,800 Prompts)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Baseline E1 Router Accuracy: 58.89% (265 / 450 clusters correct; 95% CI: [54.22%, 63.33%]).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Combined Router E4 Accuracy: 81.56% (367 / 450 clusters correct; 95% CI: [77.78%, 85.11%]).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Absolute Improvement: +22.67 percentage points (+102 net clusters corrected).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Statistical Significance: McNemar exact test p = 9.24 x 10^-27 (106 wins vs. 4 losses).</a:t>
            </a:r>
          </a:p>
        </p:txBody>
      </p:sp>
      <p:pic>
        <p:nvPicPr>
          <p:cNvPr id="5" name="Picture 4" descr="fig2_factual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962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Accuracy Gains, Non-Inferiority &amp; Statistical Significance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Formal Paired Hypothesis Testing Against Prespecified Margins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Factual Non-Inferiority vs. Base Qwen: Prespecified margin was -2.00 pp at alpha = 0.025.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Achieved Non-Inferiority Bound: Lower 97.5% CI is +17.24 pp (conclusively established, p &lt; 10^-15).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Retrieval-Only Caveat: E3's +1.33 pp gain has p = 0.180 (b=10, c=4) and is NOT statistically significant.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Minimal Corruption: Only 4 clusters (0.89%) were corrupted, yielding a win/loss ratio of 26.5 to 1.</a:t>
            </a:r>
          </a:p>
        </p:txBody>
      </p:sp>
      <p:pic>
        <p:nvPicPr>
          <p:cNvPr id="5" name="Picture 4" descr="fig3_accuracy_improvement_ove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28182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Operational Performance: Sub-Millisecond Verification on RTX 4090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 Live Serving Latency Accounting for Every Pipeline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Median End-to-End Latency (p50): 3,087.63 ms (p95: 3,639.72 ms) for single-user interactive turn.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Neural Token Generation Overhead: Accounts for 99.92% (3,148.39 ms) of total interactive runtime.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The Verification Layer is Virtually Free: Paths A, B, and C combined require only 2.08 ms (&lt; 0.08%).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VRAM Stability: Static model 4.48 GB, dynamic KV cache 3.74 GB, peak memory 8.22 GB (15.78 GB free).</a:t>
            </a:r>
          </a:p>
        </p:txBody>
      </p:sp>
      <p:pic>
        <p:nvPicPr>
          <p:cNvPr id="5" name="Picture 4" descr="fig4_accuracy_vs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003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Answer Coverage versus Selective Accuracy Frontier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Condition E5 Conservative Abstention on High-Risk &amp; Ambiguous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Strict Scoring Mandate: In primary accuracy, abstentions are strictly scored as 0.0 (E5 Gross = 50.00%).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High-Reliability Mode (E5): Answers 58.22% of queries while achieving 85.88% Selective Accuracy.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Clean Ambiguity Detection: E5 correctly abstained on 100% of intentionally ambiguous questions (38/38).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Deployment Guidance: E4 (100% coverage, 81.6% acc) for general QA; E5 for mission-critical compliance.</a:t>
            </a:r>
          </a:p>
        </p:txBody>
      </p:sp>
      <p:pic>
        <p:nvPicPr>
          <p:cNvPr id="5" name="Picture 4" descr="fig5_coverage_vs_selective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1697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Deterministic Verification vs. Retrieval: The Parity Audit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Why E2 and E4 Both Report 81.56% Factual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Apparent Parity: E2 (Deterministic) and E4 (Combined) both achieve exactly 367 / 450 correct clusters.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Case-Level Overlap Audit: They share 363 correct clusters, but differ in 8 clusters in Entity Relations.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E2 Wins (4 clusters): Where retrieved text caused an ungrounded or ambiguous overwrite.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E4 Wins (4 clusters): Where retrieved evidence successfully corrected an ungrounded entity claim.</a:t>
            </a:r>
          </a:p>
        </p:txBody>
      </p:sp>
      <p:pic>
        <p:nvPicPr>
          <p:cNvPr id="5" name="Picture 4" descr="fig6_deterministic_vs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1036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Stratified Domain Performance: Where the Gains Occurred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Auditing All 12 Preregistered Strata (Exact Test N = 450 Clusters)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Numerical Reasoning (N=37): Factual accuracy surged from 8.11% to 97.30% (+89.19 pp).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Date &amp; Time Math (N=37): Factual accuracy surged from 24.32% to 100.00% (+75.68 pp).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Deterministic Arithmetic (N=37): Factual accuracy surged from 24.32% to 91.89% (+67.57 pp).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Denominators Audited: 6 strata with 38 and 6 strata with 37 clusters sum exactly to 450 test clusters.</a:t>
            </a:r>
          </a:p>
        </p:txBody>
      </p:sp>
      <p:pic>
        <p:nvPicPr>
          <p:cNvPr id="5" name="Picture 4" descr="fig7_performance_by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3789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Forensic Error Taxonomy: Categorizing the 83 Failed Clusters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Analysis of Limitations, Residual Risks, and Engineering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Semantic Ambiguity (38 clusters / 45.8%): Queries with multiple interpretations require conversational clarification.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Missing Local Corpus Docs (25 clusters / 30.1%): Niche historical dates require broader knowledge sources.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Constraint Violations (8 clusters / 9.6%): JSON schema deviations require constrained grammar decoding.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200">
                <a:solidFill>
                  <a:srgbClr val="334155"/>
                </a:solidFill>
              </a:defRPr>
            </a:pPr>
            <a:r>
              <a:t>• Deployment Classification: Validated mitigation for enterprise search; controlled pilot for high stakes.</a:t>
            </a:r>
          </a:p>
        </p:txBody>
      </p:sp>
      <p:pic>
        <p:nvPicPr>
          <p:cNvPr id="5" name="Picture 4" descr="fig8_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88720"/>
            <a:ext cx="5669280" cy="2436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